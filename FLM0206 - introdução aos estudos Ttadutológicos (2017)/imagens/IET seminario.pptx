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65" r:id="rId12"/>
    <p:sldId id="264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5"/>
    <p:restoredTop sz="94106"/>
  </p:normalViewPr>
  <p:slideViewPr>
    <p:cSldViewPr snapToGrid="0" snapToObjects="1">
      <p:cViewPr varScale="1">
        <p:scale>
          <a:sx n="72" d="100"/>
          <a:sy n="72" d="100"/>
        </p:scale>
        <p:origin x="208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5/15/17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5/15/17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817123"/>
            <a:ext cx="8676222" cy="1572639"/>
          </a:xfrm>
        </p:spPr>
        <p:txBody>
          <a:bodyPr/>
          <a:lstStyle/>
          <a:p>
            <a:r>
              <a:rPr lang="pt-BR" dirty="0" smtClean="0"/>
              <a:t>Tradu</a:t>
            </a:r>
            <a:r>
              <a:rPr lang="en-US" dirty="0" smtClean="0"/>
              <a:t>ção &amp; Tecnologias</a:t>
            </a:r>
            <a:endParaRPr lang="pt-B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1" y="2718881"/>
            <a:ext cx="9202333" cy="3370634"/>
          </a:xfrm>
        </p:spPr>
        <p:txBody>
          <a:bodyPr>
            <a:normAutofit fontScale="92500" lnSpcReduction="10000"/>
          </a:bodyPr>
          <a:lstStyle/>
          <a:p>
            <a:r>
              <a:rPr lang="pt-BR" dirty="0" smtClean="0"/>
              <a:t>Texto de </a:t>
            </a:r>
            <a:r>
              <a:rPr lang="en-US" dirty="0" smtClean="0"/>
              <a:t>Érika Nogueira de Andrade Stupiuello, UNESP</a:t>
            </a:r>
          </a:p>
          <a:p>
            <a:endParaRPr lang="en-US" dirty="0"/>
          </a:p>
          <a:p>
            <a:r>
              <a:rPr lang="pt-BR" sz="2200" u="sng" dirty="0" smtClean="0"/>
              <a:t>SEMIN</a:t>
            </a:r>
            <a:r>
              <a:rPr lang="en-US" sz="2200" u="sng" dirty="0" smtClean="0"/>
              <a:t>ÁRIO APRESENTADO </a:t>
            </a:r>
            <a:r>
              <a:rPr lang="en-US" sz="2200" u="sng" dirty="0" smtClean="0"/>
              <a:t>POR</a:t>
            </a:r>
          </a:p>
          <a:p>
            <a:r>
              <a:rPr lang="en-US" dirty="0" smtClean="0"/>
              <a:t>ARIANE CASTELLO </a:t>
            </a:r>
            <a:endParaRPr lang="en-US" dirty="0" smtClean="0"/>
          </a:p>
          <a:p>
            <a:r>
              <a:rPr lang="en-US" dirty="0" smtClean="0"/>
              <a:t>AGUEDA B.N.H. KIM 9371161</a:t>
            </a:r>
          </a:p>
          <a:p>
            <a:r>
              <a:rPr lang="en-US" dirty="0" smtClean="0"/>
              <a:t>GIOVANNA DIAS JORGE 9329138</a:t>
            </a:r>
          </a:p>
          <a:p>
            <a:r>
              <a:rPr lang="en-US" dirty="0" smtClean="0"/>
              <a:t>Maria </a:t>
            </a:r>
            <a:r>
              <a:rPr lang="en-US" dirty="0" err="1" smtClean="0"/>
              <a:t>Fernandes</a:t>
            </a:r>
            <a:r>
              <a:rPr lang="en-US" dirty="0" smtClean="0"/>
              <a:t> </a:t>
            </a:r>
            <a:r>
              <a:rPr lang="en-US" dirty="0" err="1" smtClean="0"/>
              <a:t>vasconcellos</a:t>
            </a:r>
            <a:r>
              <a:rPr lang="en-US" dirty="0" smtClean="0"/>
              <a:t> 8023188</a:t>
            </a:r>
            <a:endParaRPr lang="en-US" dirty="0"/>
          </a:p>
          <a:p>
            <a:r>
              <a:rPr lang="en-US" dirty="0" smtClean="0"/>
              <a:t> MELINA VALENTE </a:t>
            </a:r>
            <a:r>
              <a:rPr lang="en-US" dirty="0" smtClean="0"/>
              <a:t>8745617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2410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</a:t>
            </a:r>
            <a:r>
              <a:rPr lang="en-US" dirty="0" smtClean="0"/>
              <a:t>ÇÃO: A RELAÇÃO INDISSOCIÁVEL ENTRE 				O TRADUTOR E AS TECNOLOGIAS</a:t>
            </a:r>
            <a:endParaRPr lang="pt-BR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752" y="2514600"/>
            <a:ext cx="5291677" cy="3094137"/>
          </a:xfrm>
        </p:spPr>
      </p:pic>
    </p:spTree>
    <p:extLst>
      <p:ext uri="{BB962C8B-B14F-4D97-AF65-F5344CB8AC3E}">
        <p14:creationId xmlns:p14="http://schemas.microsoft.com/office/powerpoint/2010/main" val="159491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01373" y="992220"/>
            <a:ext cx="491733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 smtClean="0"/>
              <a:t>Tecnologia Defini</a:t>
            </a:r>
            <a:r>
              <a:rPr lang="en-US" sz="4400" dirty="0" smtClean="0"/>
              <a:t>ção :</a:t>
            </a:r>
            <a:endParaRPr lang="pt-BR" sz="4400" dirty="0"/>
          </a:p>
        </p:txBody>
      </p:sp>
      <p:sp>
        <p:nvSpPr>
          <p:cNvPr id="5" name="TextBox 4"/>
          <p:cNvSpPr txBox="1"/>
          <p:nvPr/>
        </p:nvSpPr>
        <p:spPr>
          <a:xfrm>
            <a:off x="1549128" y="2944608"/>
            <a:ext cx="922182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"</a:t>
            </a:r>
            <a:r>
              <a:rPr lang="pt-BR" sz="4400" dirty="0" smtClean="0"/>
              <a:t>Conjunto de conhecimentos e pr</a:t>
            </a:r>
            <a:r>
              <a:rPr lang="en-US" sz="4400" dirty="0" smtClean="0"/>
              <a:t>áticas, fundado nos princípios científicos e aplicado a um determinado ramo técnico"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56140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As necessidades vividas em cada </a:t>
            </a:r>
            <a:r>
              <a:rPr lang="en-US" dirty="0" smtClean="0"/>
              <a:t>época ditam as ferramentas tecnológicas usadas profissionalmente</a:t>
            </a:r>
            <a:endParaRPr lang="pt-BR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737" y="2667000"/>
            <a:ext cx="4576151" cy="312420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234" y="2667000"/>
            <a:ext cx="3429085" cy="3102061"/>
          </a:xfrm>
        </p:spPr>
      </p:pic>
    </p:spTree>
    <p:extLst>
      <p:ext uri="{BB962C8B-B14F-4D97-AF65-F5344CB8AC3E}">
        <p14:creationId xmlns:p14="http://schemas.microsoft.com/office/powerpoint/2010/main" val="189549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911" y="374515"/>
            <a:ext cx="7022830" cy="46389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891" y="5428034"/>
            <a:ext cx="1205810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dirty="0" smtClean="0"/>
              <a:t>Microcomputadores, 1980:  in</a:t>
            </a:r>
            <a:r>
              <a:rPr lang="en-US" sz="3000" dirty="0" smtClean="0"/>
              <a:t>ício da tecnologia da informação</a:t>
            </a:r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1091402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654" y="1577400"/>
            <a:ext cx="3369013" cy="32598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528" y="1570206"/>
            <a:ext cx="3296327" cy="32670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78230" y="2859932"/>
            <a:ext cx="7003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&amp;</a:t>
            </a:r>
          </a:p>
        </p:txBody>
      </p:sp>
    </p:spTree>
    <p:extLst>
      <p:ext uri="{BB962C8B-B14F-4D97-AF65-F5344CB8AC3E}">
        <p14:creationId xmlns:p14="http://schemas.microsoft.com/office/powerpoint/2010/main" val="1244010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2756170"/>
          </a:xfrm>
        </p:spPr>
        <p:txBody>
          <a:bodyPr>
            <a:normAutofit/>
          </a:bodyPr>
          <a:lstStyle/>
          <a:p>
            <a:r>
              <a:rPr lang="pt-BR" dirty="0" smtClean="0"/>
              <a:t>1990: </a:t>
            </a:r>
            <a:br>
              <a:rPr lang="pt-BR" dirty="0" smtClean="0"/>
            </a:b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>sistemas de mem</a:t>
            </a:r>
            <a:r>
              <a:rPr lang="en-US" dirty="0" smtClean="0"/>
              <a:t>órias de </a:t>
            </a:r>
            <a:r>
              <a:rPr lang="pt-BR" dirty="0" smtClean="0"/>
              <a:t>tradu</a:t>
            </a:r>
            <a:r>
              <a:rPr lang="en-US" dirty="0" smtClean="0"/>
              <a:t>ção em escala comercial</a:t>
            </a:r>
            <a:endParaRPr lang="pt-BR" dirty="0"/>
          </a:p>
        </p:txBody>
      </p:sp>
      <p:sp>
        <p:nvSpPr>
          <p:cNvPr id="3" name="TextBox 2"/>
          <p:cNvSpPr txBox="1"/>
          <p:nvPr/>
        </p:nvSpPr>
        <p:spPr>
          <a:xfrm>
            <a:off x="1595336" y="3638145"/>
            <a:ext cx="899156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smtClean="0"/>
              <a:t>Possibilitam </a:t>
            </a:r>
            <a:r>
              <a:rPr lang="pt-BR" sz="2000" dirty="0" smtClean="0"/>
              <a:t>a reutiliza</a:t>
            </a:r>
            <a:r>
              <a:rPr lang="en-US" sz="2000" dirty="0" smtClean="0"/>
              <a:t>ção da produção tradutória em trabalhos futuros</a:t>
            </a:r>
          </a:p>
          <a:p>
            <a:endParaRPr lang="pt-BR" dirty="0"/>
          </a:p>
        </p:txBody>
      </p:sp>
      <p:sp>
        <p:nvSpPr>
          <p:cNvPr id="6" name="TextBox 5"/>
          <p:cNvSpPr txBox="1"/>
          <p:nvPr/>
        </p:nvSpPr>
        <p:spPr>
          <a:xfrm>
            <a:off x="1595336" y="4284476"/>
            <a:ext cx="38619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smtClean="0"/>
              <a:t>Promessa de maior </a:t>
            </a:r>
            <a:r>
              <a:rPr lang="pt-BR" sz="2000" dirty="0" err="1" smtClean="0"/>
              <a:t>efici</a:t>
            </a:r>
            <a:r>
              <a:rPr lang="en-US" sz="2000" dirty="0" err="1" smtClean="0"/>
              <a:t>ência</a:t>
            </a:r>
            <a:endParaRPr lang="pt-BR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1595336" y="4930807"/>
            <a:ext cx="7851829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/>
              <a:t>Implica</a:t>
            </a:r>
            <a:r>
              <a:rPr lang="en-US" sz="2000" dirty="0" err="1" smtClean="0"/>
              <a:t>ção</a:t>
            </a:r>
            <a:r>
              <a:rPr lang="en-US" sz="2000" dirty="0" smtClean="0"/>
              <a:t> de </a:t>
            </a:r>
            <a:r>
              <a:rPr lang="en-US" sz="2000" dirty="0" err="1" smtClean="0"/>
              <a:t>novos</a:t>
            </a:r>
            <a:r>
              <a:rPr lang="en-US" sz="2000" dirty="0" smtClean="0"/>
              <a:t> </a:t>
            </a:r>
            <a:r>
              <a:rPr lang="en-US" sz="2000" dirty="0" err="1" smtClean="0"/>
              <a:t>critérios</a:t>
            </a:r>
            <a:r>
              <a:rPr lang="en-US" sz="2000" dirty="0" smtClean="0"/>
              <a:t> para a </a:t>
            </a:r>
            <a:r>
              <a:rPr lang="en-US" sz="2000" dirty="0" err="1" smtClean="0"/>
              <a:t>contratação</a:t>
            </a:r>
            <a:r>
              <a:rPr lang="en-US" sz="2000" dirty="0" smtClean="0"/>
              <a:t> </a:t>
            </a:r>
            <a:r>
              <a:rPr lang="en-US" sz="2000" dirty="0" smtClean="0"/>
              <a:t>do tradutor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233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59529" y="936245"/>
            <a:ext cx="62937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/>
              <a:t>TRADU</a:t>
            </a:r>
            <a:r>
              <a:rPr lang="en-US" sz="3600" dirty="0" smtClean="0"/>
              <a:t>ÇÃO É TECNOLOGIA</a:t>
            </a:r>
            <a:endParaRPr lang="pt-BR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2759529" y="2282012"/>
            <a:ext cx="6106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É uma atividade humana ligada à informação</a:t>
            </a:r>
            <a:endParaRPr lang="pt-BR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091379" y="3554361"/>
            <a:ext cx="103059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dirty="0" err="1" smtClean="0"/>
              <a:t>Import</a:t>
            </a:r>
            <a:r>
              <a:rPr lang="en-US" sz="2000" dirty="0" smtClean="0"/>
              <a:t>ância do tradutor em</a:t>
            </a:r>
            <a:r>
              <a:rPr lang="en-US" sz="2000" dirty="0"/>
              <a:t> </a:t>
            </a:r>
            <a:r>
              <a:rPr lang="en-US" sz="2000" dirty="0" smtClean="0"/>
              <a:t>conhecer as ferramentas </a:t>
            </a:r>
            <a:r>
              <a:rPr lang="en-US" sz="2000" dirty="0" err="1" smtClean="0"/>
              <a:t>que</a:t>
            </a:r>
            <a:r>
              <a:rPr lang="en-US" sz="2000" dirty="0" smtClean="0"/>
              <a:t> </a:t>
            </a:r>
            <a:r>
              <a:rPr lang="en-US" sz="2000" dirty="0" err="1" smtClean="0"/>
              <a:t>utiliza</a:t>
            </a:r>
            <a:r>
              <a:rPr lang="en-US" sz="2000" dirty="0" smtClean="0"/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2000" dirty="0" err="1" smtClean="0"/>
              <a:t>Tecnologia</a:t>
            </a:r>
            <a:r>
              <a:rPr lang="en-US" sz="2000" dirty="0" smtClean="0"/>
              <a:t> </a:t>
            </a:r>
            <a:r>
              <a:rPr lang="en-US" sz="2000" dirty="0" err="1" smtClean="0"/>
              <a:t>atua</a:t>
            </a:r>
            <a:r>
              <a:rPr lang="en-US" sz="2000" dirty="0" smtClean="0"/>
              <a:t> </a:t>
            </a:r>
            <a:r>
              <a:rPr lang="en-US" sz="2000" dirty="0" err="1" smtClean="0"/>
              <a:t>nas</a:t>
            </a:r>
            <a:r>
              <a:rPr lang="en-US" sz="2000" dirty="0" smtClean="0"/>
              <a:t> </a:t>
            </a:r>
            <a:r>
              <a:rPr lang="en-US" sz="2000" dirty="0" err="1" smtClean="0"/>
              <a:t>decis</a:t>
            </a:r>
            <a:r>
              <a:rPr lang="en-US" sz="2000" dirty="0" err="1" smtClean="0"/>
              <a:t>ões</a:t>
            </a:r>
            <a:r>
              <a:rPr lang="en-US" sz="2000" dirty="0" smtClean="0"/>
              <a:t> </a:t>
            </a:r>
            <a:r>
              <a:rPr lang="en-US" sz="2000" dirty="0" err="1" smtClean="0"/>
              <a:t>tradutórias</a:t>
            </a:r>
            <a:endParaRPr lang="en-US" sz="2000" dirty="0" smtClean="0"/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A </a:t>
            </a:r>
            <a:r>
              <a:rPr lang="en-US" sz="2000" dirty="0" err="1" smtClean="0"/>
              <a:t>tecnologia</a:t>
            </a:r>
            <a:r>
              <a:rPr lang="en-US" sz="2000" dirty="0" smtClean="0"/>
              <a:t> </a:t>
            </a:r>
            <a:r>
              <a:rPr lang="en-US" sz="2000" dirty="0" err="1" smtClean="0"/>
              <a:t>auxilia</a:t>
            </a:r>
            <a:r>
              <a:rPr lang="en-US" sz="2000" dirty="0" smtClean="0"/>
              <a:t> o </a:t>
            </a:r>
            <a:r>
              <a:rPr lang="en-US" sz="2000" dirty="0" err="1" smtClean="0"/>
              <a:t>tradutor</a:t>
            </a:r>
            <a:r>
              <a:rPr lang="en-US" sz="2000" dirty="0" smtClean="0"/>
              <a:t> a </a:t>
            </a:r>
            <a:r>
              <a:rPr lang="en-US" sz="2000" dirty="0" err="1" smtClean="0"/>
              <a:t>controlar</a:t>
            </a:r>
            <a:r>
              <a:rPr lang="en-US" sz="2000" dirty="0" smtClean="0"/>
              <a:t> o </a:t>
            </a:r>
            <a:r>
              <a:rPr lang="en-US" sz="2000" dirty="0" err="1" smtClean="0"/>
              <a:t>seu</a:t>
            </a:r>
            <a:r>
              <a:rPr lang="en-US" sz="2000" dirty="0" smtClean="0"/>
              <a:t> </a:t>
            </a:r>
            <a:r>
              <a:rPr lang="en-US" sz="2000" dirty="0" smtClean="0"/>
              <a:t>trabalho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266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4475" y="1857375"/>
            <a:ext cx="983388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/>
              <a:t>Sistemas de mem</a:t>
            </a:r>
            <a:r>
              <a:rPr lang="en-US" sz="4000" dirty="0" err="1" smtClean="0"/>
              <a:t>ória</a:t>
            </a:r>
            <a:r>
              <a:rPr lang="en-US" sz="4000" dirty="0" smtClean="0"/>
              <a:t> de </a:t>
            </a:r>
            <a:r>
              <a:rPr lang="en-US" sz="4000" dirty="0" err="1" smtClean="0"/>
              <a:t>tradução</a:t>
            </a:r>
            <a:r>
              <a:rPr lang="en-US" sz="4000" dirty="0" smtClean="0"/>
              <a:t>:</a:t>
            </a:r>
          </a:p>
          <a:p>
            <a:endParaRPr lang="en-US" sz="4000" dirty="0" smtClean="0"/>
          </a:p>
          <a:p>
            <a:r>
              <a:rPr lang="en-US" sz="3200" dirty="0" err="1" smtClean="0"/>
              <a:t>Reaproveitar</a:t>
            </a:r>
            <a:r>
              <a:rPr lang="en-US" sz="3200" dirty="0" smtClean="0"/>
              <a:t> </a:t>
            </a:r>
            <a:r>
              <a:rPr lang="en-US" sz="3200" dirty="0" smtClean="0"/>
              <a:t>o </a:t>
            </a:r>
            <a:r>
              <a:rPr lang="en-US" sz="3200" dirty="0" err="1" smtClean="0"/>
              <a:t>trabalho</a:t>
            </a:r>
            <a:r>
              <a:rPr lang="en-US" sz="3200" dirty="0" smtClean="0"/>
              <a:t> = </a:t>
            </a:r>
            <a:r>
              <a:rPr lang="en-US" sz="3200" dirty="0" err="1" smtClean="0"/>
              <a:t>maior</a:t>
            </a:r>
            <a:r>
              <a:rPr lang="en-US" sz="3200" dirty="0" smtClean="0"/>
              <a:t> </a:t>
            </a:r>
            <a:r>
              <a:rPr lang="en-US" sz="3200" dirty="0" err="1" smtClean="0"/>
              <a:t>eficiência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684887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0100" y="612212"/>
            <a:ext cx="9804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smtClean="0"/>
              <a:t>Peter </a:t>
            </a:r>
            <a:r>
              <a:rPr lang="pt-BR" sz="2800" dirty="0" err="1" smtClean="0"/>
              <a:t>Arthern</a:t>
            </a:r>
            <a:r>
              <a:rPr lang="pt-BR" sz="2800" dirty="0" smtClean="0"/>
              <a:t>, em </a:t>
            </a:r>
            <a:r>
              <a:rPr lang="pt-BR" sz="2800" dirty="0" smtClean="0"/>
              <a:t>1978 demostrava como seria a TMS</a:t>
            </a:r>
            <a:endParaRPr lang="pt-BR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800100" y="1617137"/>
            <a:ext cx="830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smtClean="0"/>
              <a:t>- Qualquer </a:t>
            </a:r>
            <a:r>
              <a:rPr lang="pt-BR" sz="2000" dirty="0" smtClean="0"/>
              <a:t>texto novo seria digitado em um </a:t>
            </a:r>
            <a:r>
              <a:rPr lang="pt-BR" sz="2000" dirty="0" smtClean="0"/>
              <a:t>processador </a:t>
            </a:r>
            <a:r>
              <a:rPr lang="pt-BR" sz="2000" dirty="0" smtClean="0"/>
              <a:t>de texto</a:t>
            </a:r>
            <a:endParaRPr lang="pt-BR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800100" y="2217184"/>
            <a:ext cx="107997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- </a:t>
            </a:r>
            <a:r>
              <a:rPr lang="en-US" sz="2000" dirty="0" err="1" smtClean="0"/>
              <a:t>À</a:t>
            </a:r>
            <a:r>
              <a:rPr lang="en-US" sz="2000" dirty="0" smtClean="0"/>
              <a:t> </a:t>
            </a:r>
            <a:r>
              <a:rPr lang="en-US" sz="2000" dirty="0" err="1" smtClean="0"/>
              <a:t>medida</a:t>
            </a:r>
            <a:r>
              <a:rPr lang="en-US" sz="2000" dirty="0" smtClean="0"/>
              <a:t> que fosse </a:t>
            </a:r>
            <a:r>
              <a:rPr lang="en-US" sz="2000" dirty="0" err="1" smtClean="0"/>
              <a:t>digitado</a:t>
            </a:r>
            <a:r>
              <a:rPr lang="en-US" sz="2000" dirty="0" smtClean="0"/>
              <a:t>, o </a:t>
            </a:r>
            <a:r>
              <a:rPr lang="en-US" sz="2000" dirty="0" err="1" smtClean="0"/>
              <a:t>sistema</a:t>
            </a:r>
            <a:r>
              <a:rPr lang="en-US" sz="2000" dirty="0" smtClean="0"/>
              <a:t> </a:t>
            </a:r>
            <a:r>
              <a:rPr lang="en-US" sz="2000" dirty="0" err="1" smtClean="0"/>
              <a:t>compararia</a:t>
            </a:r>
            <a:r>
              <a:rPr lang="en-US" sz="2000" dirty="0" smtClean="0"/>
              <a:t> </a:t>
            </a:r>
            <a:r>
              <a:rPr lang="en-US" sz="2000" dirty="0" err="1" smtClean="0"/>
              <a:t>esse</a:t>
            </a:r>
            <a:r>
              <a:rPr lang="en-US" sz="2000" dirty="0" smtClean="0"/>
              <a:t> </a:t>
            </a:r>
            <a:r>
              <a:rPr lang="en-US" sz="2000" dirty="0" err="1" smtClean="0"/>
              <a:t>texto</a:t>
            </a:r>
            <a:r>
              <a:rPr lang="en-US" sz="2000" dirty="0" smtClean="0"/>
              <a:t> </a:t>
            </a:r>
            <a:r>
              <a:rPr lang="en-US" sz="2000" dirty="0" err="1" smtClean="0"/>
              <a:t>aos</a:t>
            </a:r>
            <a:r>
              <a:rPr lang="en-US" sz="2000" dirty="0" smtClean="0"/>
              <a:t> </a:t>
            </a:r>
            <a:r>
              <a:rPr lang="en-US" sz="2000" dirty="0" err="1" smtClean="0"/>
              <a:t>textos</a:t>
            </a:r>
            <a:r>
              <a:rPr lang="en-US" sz="2000" dirty="0" smtClean="0"/>
              <a:t> </a:t>
            </a:r>
            <a:r>
              <a:rPr lang="en-US" sz="2000" dirty="0" err="1" smtClean="0"/>
              <a:t>anteriores</a:t>
            </a:r>
            <a:r>
              <a:rPr lang="en-US" sz="2000" dirty="0" smtClean="0"/>
              <a:t> </a:t>
            </a:r>
            <a:r>
              <a:rPr lang="en-US" sz="2000" dirty="0" smtClean="0"/>
              <a:t> </a:t>
            </a:r>
            <a:endParaRPr lang="en-US" sz="2000" dirty="0" smtClean="0"/>
          </a:p>
          <a:p>
            <a:r>
              <a:rPr lang="en-US" sz="2000" dirty="0" smtClean="0"/>
              <a:t>  </a:t>
            </a:r>
            <a:r>
              <a:rPr lang="en-US" sz="2000" dirty="0" err="1" smtClean="0"/>
              <a:t>a</a:t>
            </a:r>
            <a:r>
              <a:rPr lang="en-US" sz="2000" dirty="0" err="1" smtClean="0"/>
              <a:t>rmazenados</a:t>
            </a:r>
            <a:r>
              <a:rPr lang="en-US" sz="2000" dirty="0" smtClean="0"/>
              <a:t> </a:t>
            </a:r>
            <a:r>
              <a:rPr lang="en-US" sz="2000" dirty="0" err="1" smtClean="0"/>
              <a:t>na</a:t>
            </a:r>
            <a:r>
              <a:rPr lang="en-US" sz="2000" dirty="0" smtClean="0"/>
              <a:t> </a:t>
            </a:r>
            <a:r>
              <a:rPr lang="en-US" sz="2000" dirty="0" err="1" smtClean="0"/>
              <a:t>memória</a:t>
            </a:r>
            <a:endParaRPr lang="pt-BR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738357" y="3241384"/>
            <a:ext cx="1028639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/>
              <a:t>- possibilitaria </a:t>
            </a:r>
            <a:r>
              <a:rPr lang="pt-BR" sz="2000" dirty="0" err="1" smtClean="0"/>
              <a:t>tradu</a:t>
            </a:r>
            <a:r>
              <a:rPr lang="en-US" sz="2000" dirty="0" err="1" smtClean="0"/>
              <a:t>ção</a:t>
            </a:r>
            <a:r>
              <a:rPr lang="en-US" sz="2000" dirty="0" smtClean="0"/>
              <a:t> </a:t>
            </a:r>
            <a:r>
              <a:rPr lang="en-US" sz="2000" dirty="0" err="1" smtClean="0"/>
              <a:t>concomitante</a:t>
            </a:r>
            <a:r>
              <a:rPr lang="en-US" sz="2000" dirty="0" smtClean="0"/>
              <a:t> </a:t>
            </a:r>
            <a:r>
              <a:rPr lang="en-US" sz="2000" dirty="0" err="1" smtClean="0"/>
              <a:t>em</a:t>
            </a:r>
            <a:r>
              <a:rPr lang="en-US" sz="2000" dirty="0" smtClean="0"/>
              <a:t> </a:t>
            </a:r>
            <a:r>
              <a:rPr lang="en-US" sz="2000" dirty="0" err="1" smtClean="0"/>
              <a:t>todas</a:t>
            </a:r>
            <a:r>
              <a:rPr lang="en-US" sz="2000" dirty="0" smtClean="0"/>
              <a:t> </a:t>
            </a:r>
            <a:r>
              <a:rPr lang="en-US" sz="2000" dirty="0" smtClean="0"/>
              <a:t>as </a:t>
            </a:r>
            <a:r>
              <a:rPr lang="en-US" sz="2000" dirty="0" err="1" smtClean="0"/>
              <a:t>línguas</a:t>
            </a:r>
            <a:r>
              <a:rPr lang="en-US" sz="2000" dirty="0" smtClean="0"/>
              <a:t> </a:t>
            </a:r>
            <a:r>
              <a:rPr lang="en-US" sz="2000" dirty="0" err="1" smtClean="0"/>
              <a:t>oficiais</a:t>
            </a:r>
            <a:r>
              <a:rPr lang="en-US" sz="2000" dirty="0" smtClean="0"/>
              <a:t> </a:t>
            </a:r>
            <a:r>
              <a:rPr lang="en-US" sz="2000" dirty="0" smtClean="0"/>
              <a:t>da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</a:t>
            </a:r>
            <a:r>
              <a:rPr lang="en-US" sz="2000" dirty="0" err="1" smtClean="0"/>
              <a:t>Comunidade</a:t>
            </a:r>
            <a:r>
              <a:rPr lang="en-US" sz="2000" dirty="0" smtClean="0"/>
              <a:t> </a:t>
            </a:r>
            <a:r>
              <a:rPr lang="en-US" sz="2000" dirty="0" err="1" smtClean="0"/>
              <a:t>Européia</a:t>
            </a:r>
            <a:endParaRPr lang="en-US" sz="2000" dirty="0" smtClean="0"/>
          </a:p>
          <a:p>
            <a:r>
              <a:rPr lang="pt-BR" dirty="0" smtClean="0"/>
              <a:t> </a:t>
            </a:r>
            <a:endParaRPr lang="pt-BR" dirty="0"/>
          </a:p>
        </p:txBody>
      </p:sp>
      <p:sp>
        <p:nvSpPr>
          <p:cNvPr id="6" name="TextBox 5"/>
          <p:cNvSpPr txBox="1"/>
          <p:nvPr/>
        </p:nvSpPr>
        <p:spPr>
          <a:xfrm>
            <a:off x="2104073" y="4542583"/>
            <a:ext cx="910180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 err="1" smtClean="0"/>
              <a:t>Arthern</a:t>
            </a:r>
            <a:r>
              <a:rPr lang="pt-BR" sz="2400" dirty="0" smtClean="0"/>
              <a:t> observou </a:t>
            </a:r>
            <a:r>
              <a:rPr lang="pt-BR" sz="2400" dirty="0" smtClean="0"/>
              <a:t>que a maior parte </a:t>
            </a:r>
            <a:r>
              <a:rPr lang="pt-BR" sz="2400" dirty="0" smtClean="0"/>
              <a:t>do </a:t>
            </a:r>
            <a:r>
              <a:rPr lang="pt-BR" sz="2400" dirty="0" smtClean="0"/>
              <a:t>processo</a:t>
            </a:r>
            <a:r>
              <a:rPr lang="pt-BR" sz="2400" dirty="0" smtClean="0"/>
              <a:t> </a:t>
            </a:r>
            <a:r>
              <a:rPr lang="pt-BR" sz="2400" dirty="0" smtClean="0"/>
              <a:t>era </a:t>
            </a:r>
          </a:p>
          <a:p>
            <a:pPr algn="just">
              <a:lnSpc>
                <a:spcPct val="150000"/>
              </a:lnSpc>
            </a:pPr>
            <a:r>
              <a:rPr lang="pt-BR" sz="2800" b="1" dirty="0" smtClean="0"/>
              <a:t>ALTAMENTE </a:t>
            </a:r>
            <a:r>
              <a:rPr lang="pt-BR" sz="2800" b="1" dirty="0" smtClean="0"/>
              <a:t>REPETITIVA </a:t>
            </a:r>
            <a:r>
              <a:rPr lang="pt-BR" sz="2800" dirty="0" smtClean="0"/>
              <a:t>, </a:t>
            </a:r>
            <a:r>
              <a:rPr lang="pt-BR" sz="2400" dirty="0" smtClean="0"/>
              <a:t>gerando um</a:t>
            </a:r>
            <a:r>
              <a:rPr lang="pt-BR" sz="2400" dirty="0" smtClean="0"/>
              <a:t> </a:t>
            </a:r>
            <a:r>
              <a:rPr lang="pt-BR" sz="2400" dirty="0" smtClean="0"/>
              <a:t>GASTO MAIOR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940000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4063" y="816671"/>
            <a:ext cx="58549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/>
              <a:t>Martin Kay (1935), </a:t>
            </a:r>
            <a:r>
              <a:rPr lang="pt-BR" sz="2000" dirty="0" smtClean="0"/>
              <a:t>pesquisador da XEROX,  </a:t>
            </a:r>
          </a:p>
          <a:p>
            <a:r>
              <a:rPr lang="pt-BR" sz="2000" dirty="0" smtClean="0"/>
              <a:t>Reconhecido por seu trabalho em</a:t>
            </a:r>
          </a:p>
          <a:p>
            <a:r>
              <a:rPr lang="pt-BR" sz="2000" dirty="0" err="1" smtClean="0"/>
              <a:t>ling</a:t>
            </a:r>
            <a:r>
              <a:rPr lang="en-US" sz="2000" dirty="0" err="1" smtClean="0"/>
              <a:t>uística</a:t>
            </a:r>
            <a:r>
              <a:rPr lang="en-US" sz="2000" dirty="0" smtClean="0"/>
              <a:t> </a:t>
            </a:r>
            <a:r>
              <a:rPr lang="en-US" sz="2000" dirty="0" err="1" smtClean="0"/>
              <a:t>computacional</a:t>
            </a:r>
            <a:endParaRPr lang="pt-BR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34" t="1220" r="3613" b="-1220"/>
          <a:stretch/>
        </p:blipFill>
        <p:spPr>
          <a:xfrm>
            <a:off x="7799294" y="649507"/>
            <a:ext cx="3393867" cy="30111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4063" y="1957063"/>
            <a:ext cx="47371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smtClean="0"/>
              <a:t>Utilizou as ideias seminais de </a:t>
            </a:r>
            <a:r>
              <a:rPr lang="pt-BR" sz="2000" dirty="0" err="1" smtClean="0"/>
              <a:t>Arthern</a:t>
            </a:r>
            <a:r>
              <a:rPr lang="pt-BR" sz="2000" dirty="0" smtClean="0"/>
              <a:t> </a:t>
            </a:r>
            <a:endParaRPr lang="pt-BR" sz="2000" dirty="0" smtClean="0"/>
          </a:p>
          <a:p>
            <a:r>
              <a:rPr lang="pt-BR" sz="2000" dirty="0" smtClean="0"/>
              <a:t>em </a:t>
            </a:r>
            <a:r>
              <a:rPr lang="pt-BR" sz="2000" dirty="0" smtClean="0"/>
              <a:t>seu </a:t>
            </a:r>
            <a:r>
              <a:rPr lang="pt-BR" sz="2000" dirty="0" smtClean="0"/>
              <a:t>artigo :</a:t>
            </a:r>
            <a:endParaRPr lang="pt-BR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994063" y="3039136"/>
            <a:ext cx="8733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"</a:t>
            </a:r>
            <a:r>
              <a:rPr lang="pt-BR" sz="2400" dirty="0" smtClean="0"/>
              <a:t>THE </a:t>
            </a:r>
            <a:r>
              <a:rPr lang="pt-BR" sz="2400" dirty="0" smtClean="0"/>
              <a:t>PROPER PLACE OF MEN AND </a:t>
            </a:r>
            <a:endParaRPr lang="pt-BR" sz="2400" dirty="0" smtClean="0"/>
          </a:p>
          <a:p>
            <a:r>
              <a:rPr lang="pt-BR" sz="2400" dirty="0" smtClean="0"/>
              <a:t>MACHINES </a:t>
            </a:r>
            <a:r>
              <a:rPr lang="pt-BR" sz="2400" dirty="0" smtClean="0"/>
              <a:t>IN LANGUAGE </a:t>
            </a:r>
            <a:r>
              <a:rPr lang="pt-BR" sz="2400" dirty="0" smtClean="0"/>
              <a:t>TRANSLATION</a:t>
            </a:r>
            <a:r>
              <a:rPr lang="en-US" sz="2400" dirty="0" smtClean="0"/>
              <a:t>"</a:t>
            </a:r>
            <a:r>
              <a:rPr lang="pt-BR" sz="2400" dirty="0" smtClean="0"/>
              <a:t> </a:t>
            </a:r>
          </a:p>
          <a:p>
            <a:r>
              <a:rPr lang="pt-BR" sz="2400" dirty="0" smtClean="0"/>
              <a:t>1980</a:t>
            </a:r>
            <a:r>
              <a:rPr lang="en-US" dirty="0" smtClean="0"/>
              <a:t>"</a:t>
            </a:r>
            <a:endParaRPr lang="pt-BR" dirty="0"/>
          </a:p>
        </p:txBody>
      </p:sp>
      <p:sp>
        <p:nvSpPr>
          <p:cNvPr id="7" name="TextBox 6"/>
          <p:cNvSpPr txBox="1"/>
          <p:nvPr/>
        </p:nvSpPr>
        <p:spPr>
          <a:xfrm>
            <a:off x="1535506" y="4613652"/>
            <a:ext cx="956301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dirty="0" smtClean="0"/>
              <a:t>Para </a:t>
            </a:r>
            <a:r>
              <a:rPr lang="pt-BR" sz="2000" dirty="0" err="1" smtClean="0"/>
              <a:t>Kay</a:t>
            </a:r>
            <a:r>
              <a:rPr lang="pt-BR" sz="2000" dirty="0" smtClean="0"/>
              <a:t> </a:t>
            </a:r>
            <a:r>
              <a:rPr lang="pt-BR" sz="2000" dirty="0" smtClean="0"/>
              <a:t>m </a:t>
            </a:r>
            <a:r>
              <a:rPr lang="pt-BR" sz="2000" dirty="0" smtClean="0"/>
              <a:t>sistema </a:t>
            </a:r>
            <a:r>
              <a:rPr lang="pt-BR" sz="2000" dirty="0" err="1" smtClean="0"/>
              <a:t>autom</a:t>
            </a:r>
            <a:r>
              <a:rPr lang="en-US" sz="2000" dirty="0" smtClean="0"/>
              <a:t>ático só seria bem sucedido se fosse capaz de </a:t>
            </a:r>
            <a:endParaRPr lang="en-US" sz="2000" dirty="0" smtClean="0"/>
          </a:p>
          <a:p>
            <a:pPr>
              <a:lnSpc>
                <a:spcPct val="150000"/>
              </a:lnSpc>
            </a:pPr>
            <a:r>
              <a:rPr lang="en-US" sz="3200" dirty="0" err="1" smtClean="0"/>
              <a:t>ampliar</a:t>
            </a:r>
            <a:r>
              <a:rPr lang="en-US" sz="3200" dirty="0" smtClean="0"/>
              <a:t> </a:t>
            </a:r>
            <a:r>
              <a:rPr lang="en-US" sz="3200" dirty="0" smtClean="0"/>
              <a:t>a </a:t>
            </a:r>
            <a:r>
              <a:rPr lang="en-US" sz="3200" b="1" dirty="0" smtClean="0"/>
              <a:t>produtividade </a:t>
            </a:r>
            <a:r>
              <a:rPr lang="en-US" sz="3200" dirty="0" smtClean="0"/>
              <a:t>humana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302923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200" y="139700"/>
            <a:ext cx="4673600" cy="65786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023" y="968188"/>
            <a:ext cx="28023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smtClean="0"/>
              <a:t>Artigo de Martin </a:t>
            </a:r>
            <a:r>
              <a:rPr lang="pt-BR" sz="2000" dirty="0" err="1" smtClean="0"/>
              <a:t>Kay</a:t>
            </a:r>
            <a:r>
              <a:rPr lang="pt-BR" sz="2000" dirty="0" smtClean="0"/>
              <a:t>:</a:t>
            </a:r>
            <a:endParaRPr lang="pt-BR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502023" y="155985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mtClean="0"/>
              <a:t>1980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3823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7368" y="799224"/>
            <a:ext cx="844173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err="1" smtClean="0"/>
              <a:t>Caracter</a:t>
            </a:r>
            <a:r>
              <a:rPr lang="en-US" sz="2400" b="1" dirty="0" smtClean="0"/>
              <a:t>ísticas  dos sistemas de memória de </a:t>
            </a:r>
            <a:r>
              <a:rPr lang="en-US" sz="2400" b="1" dirty="0" err="1" smtClean="0"/>
              <a:t>tradução</a:t>
            </a:r>
            <a:r>
              <a:rPr lang="en-US" sz="2400" b="1" dirty="0" smtClean="0"/>
              <a:t>:</a:t>
            </a:r>
            <a:endParaRPr lang="en-US" sz="2400" b="1" dirty="0" smtClean="0"/>
          </a:p>
          <a:p>
            <a:endParaRPr lang="pt-BR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977368" y="1797054"/>
            <a:ext cx="8678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smtClean="0"/>
              <a:t>Constitui</a:t>
            </a:r>
            <a:r>
              <a:rPr lang="en-US" sz="2000" dirty="0" smtClean="0"/>
              <a:t>ção de um </a:t>
            </a:r>
            <a:r>
              <a:rPr lang="en-US" sz="2000" u="sng" dirty="0" smtClean="0"/>
              <a:t>banco de dados terminológicos e fraseológicos</a:t>
            </a:r>
            <a:endParaRPr lang="pt-BR" sz="2000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1977368" y="2486931"/>
            <a:ext cx="7351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q</a:t>
            </a:r>
            <a:r>
              <a:rPr lang="pt-BR" sz="2000" dirty="0" smtClean="0"/>
              <a:t>ue </a:t>
            </a:r>
            <a:r>
              <a:rPr lang="pt-BR" sz="2000" u="sng" dirty="0" smtClean="0"/>
              <a:t>compilados </a:t>
            </a:r>
            <a:r>
              <a:rPr lang="pt-BR" sz="2000" dirty="0" smtClean="0"/>
              <a:t>a partir de </a:t>
            </a:r>
            <a:r>
              <a:rPr lang="pt-BR" sz="2000" u="sng" dirty="0" smtClean="0"/>
              <a:t>segmentos</a:t>
            </a:r>
            <a:r>
              <a:rPr lang="pt-BR" sz="2000" dirty="0" smtClean="0"/>
              <a:t> do texto original e</a:t>
            </a:r>
            <a:endParaRPr lang="pt-BR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1977368" y="3244729"/>
            <a:ext cx="554991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u="sng" dirty="0"/>
              <a:t>pareados</a:t>
            </a:r>
            <a:r>
              <a:rPr lang="pt-BR" sz="2000" dirty="0"/>
              <a:t> com suas respectivas </a:t>
            </a:r>
            <a:r>
              <a:rPr lang="pt-BR" sz="2000" dirty="0" smtClean="0"/>
              <a:t>tradu</a:t>
            </a:r>
            <a:r>
              <a:rPr lang="en-US" sz="2000" dirty="0" err="1" smtClean="0"/>
              <a:t>ções</a:t>
            </a:r>
            <a:endParaRPr lang="pt-BR" sz="2000" dirty="0"/>
          </a:p>
          <a:p>
            <a:pPr marL="285750" indent="-285750">
              <a:buFont typeface="Arial" charset="0"/>
              <a:buChar char="•"/>
            </a:pPr>
            <a:endParaRPr lang="pt-BR" dirty="0"/>
          </a:p>
        </p:txBody>
      </p:sp>
      <p:sp>
        <p:nvSpPr>
          <p:cNvPr id="6" name="TextBox 5"/>
          <p:cNvSpPr txBox="1"/>
          <p:nvPr/>
        </p:nvSpPr>
        <p:spPr>
          <a:xfrm>
            <a:off x="1977368" y="3973446"/>
            <a:ext cx="79095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t</a:t>
            </a:r>
            <a:r>
              <a:rPr lang="pt-BR" sz="2000" dirty="0" smtClean="0"/>
              <a:t>ornam-se </a:t>
            </a:r>
            <a:r>
              <a:rPr lang="pt-BR" sz="2000" dirty="0" err="1" smtClean="0"/>
              <a:t>pass</a:t>
            </a:r>
            <a:r>
              <a:rPr lang="en-US" sz="2000" dirty="0" smtClean="0"/>
              <a:t>íveis de </a:t>
            </a:r>
            <a:r>
              <a:rPr lang="en-US" sz="2000" u="sng" dirty="0" smtClean="0"/>
              <a:t>REUTILIZAÇÃO</a:t>
            </a:r>
            <a:r>
              <a:rPr lang="en-US" sz="2000" dirty="0" smtClean="0"/>
              <a:t> em trabalhos posteriores</a:t>
            </a:r>
            <a:endParaRPr lang="pt-BR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1989390" y="4782853"/>
            <a:ext cx="8654933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p</a:t>
            </a:r>
            <a:r>
              <a:rPr lang="pt-BR" sz="2000" dirty="0" smtClean="0"/>
              <a:t>orque </a:t>
            </a:r>
            <a:r>
              <a:rPr lang="pt-BR" sz="2000" dirty="0" smtClean="0"/>
              <a:t>conseguem </a:t>
            </a:r>
            <a:r>
              <a:rPr lang="pt-BR" sz="2000" u="sng" dirty="0" smtClean="0"/>
              <a:t>RECUPERAR</a:t>
            </a:r>
            <a:r>
              <a:rPr lang="pt-BR" sz="2000" dirty="0" smtClean="0"/>
              <a:t> </a:t>
            </a:r>
            <a:r>
              <a:rPr lang="pt-BR" sz="2000" dirty="0" smtClean="0"/>
              <a:t>as</a:t>
            </a:r>
            <a:r>
              <a:rPr lang="pt-BR" sz="2000" dirty="0" smtClean="0"/>
              <a:t> </a:t>
            </a:r>
            <a:r>
              <a:rPr lang="en-US" sz="2000" dirty="0" err="1" smtClean="0"/>
              <a:t>correspond</a:t>
            </a:r>
            <a:r>
              <a:rPr lang="en-US" sz="2000" dirty="0" err="1" smtClean="0"/>
              <a:t>ências</a:t>
            </a:r>
            <a:r>
              <a:rPr lang="en-US" sz="2000" dirty="0" smtClean="0"/>
              <a:t> </a:t>
            </a:r>
            <a:r>
              <a:rPr lang="en-US" sz="2000" dirty="0" err="1" smtClean="0"/>
              <a:t>armazenadas</a:t>
            </a:r>
            <a:endParaRPr lang="en-US" sz="2000" dirty="0" smtClean="0"/>
          </a:p>
          <a:p>
            <a:pPr marL="285750" indent="-285750">
              <a:buFont typeface="Arial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705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5073" y="1866185"/>
            <a:ext cx="95045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smtClean="0"/>
              <a:t>Essas recupera</a:t>
            </a:r>
            <a:r>
              <a:rPr lang="en-US" sz="2800" dirty="0" smtClean="0"/>
              <a:t>ções de correspondências podem ser </a:t>
            </a:r>
            <a:endParaRPr lang="pt-BR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062264" y="3190672"/>
            <a:ext cx="3741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smtClean="0"/>
              <a:t>PARCIAL</a:t>
            </a:r>
            <a:r>
              <a:rPr lang="pt-BR" sz="2400" dirty="0" smtClean="0"/>
              <a:t> : </a:t>
            </a:r>
            <a:r>
              <a:rPr lang="pt-BR" sz="2400" i="1" dirty="0" smtClean="0"/>
              <a:t>FUZZY MATCH</a:t>
            </a:r>
            <a:endParaRPr lang="pt-BR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007090" y="3190672"/>
            <a:ext cx="30780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smtClean="0"/>
              <a:t>TOTAL</a:t>
            </a:r>
            <a:r>
              <a:rPr lang="pt-BR" sz="2400" dirty="0" smtClean="0"/>
              <a:t>: </a:t>
            </a:r>
            <a:r>
              <a:rPr lang="pt-BR" sz="2400" i="1" dirty="0" smtClean="0"/>
              <a:t>FULL MATCH</a:t>
            </a:r>
            <a:endParaRPr lang="pt-BR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6167336" y="319067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ou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6140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115</TotalTime>
  <Words>366</Words>
  <Application>Microsoft Macintosh PowerPoint</Application>
  <PresentationFormat>Widescreen</PresentationFormat>
  <Paragraphs>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Century Gothic</vt:lpstr>
      <vt:lpstr>Arial</vt:lpstr>
      <vt:lpstr>Mesh</vt:lpstr>
      <vt:lpstr>Tradução &amp; Tecnologias</vt:lpstr>
      <vt:lpstr>INTRODUÇÃO: A RELAÇÃO INDISSOCIÁVEL ENTRE     O TRADUTOR E AS TECNOLOGIAS</vt:lpstr>
      <vt:lpstr>PowerPoint Presentation</vt:lpstr>
      <vt:lpstr>As necessidades vividas em cada época ditam as ferramentas tecnológicas usadas profissionalmente</vt:lpstr>
      <vt:lpstr>PowerPoint Presentation</vt:lpstr>
      <vt:lpstr>PowerPoint Presentation</vt:lpstr>
      <vt:lpstr>1990:   sistemas de memórias de tradução em escala comercial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Tradução &amp; Tecnologias</dc:title>
  <dc:creator>Microsoft Office User</dc:creator>
  <cp:lastModifiedBy>Microsoft Office User</cp:lastModifiedBy>
  <cp:revision>25</cp:revision>
  <dcterms:created xsi:type="dcterms:W3CDTF">2017-04-29T16:22:15Z</dcterms:created>
  <dcterms:modified xsi:type="dcterms:W3CDTF">2017-05-15T14:16:21Z</dcterms:modified>
</cp:coreProperties>
</file>